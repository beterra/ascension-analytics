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Frank Ruhl Libre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BB2D8E-BD10-477C-908D-2FEB08475C8C}">
  <a:tblStyle styleId="{65BB2D8E-BD10-477C-908D-2FEB08475C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011FE19-C067-4E8F-AE51-BAEDA4052A7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font" Target="fonts/FrankRuhlLibre-regular.fntdata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21" Type="http://schemas.openxmlformats.org/officeDocument/2006/relationships/customXml" Target="../customXml/item2.xml"/><Relationship Id="rId12" Type="http://schemas.openxmlformats.org/officeDocument/2006/relationships/slide" Target="slides/slide6.xml"/><Relationship Id="rId17" Type="http://schemas.openxmlformats.org/officeDocument/2006/relationships/font" Target="fonts/Roboto-boldItalic.fntdata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16" Type="http://schemas.openxmlformats.org/officeDocument/2006/relationships/font" Target="fonts/Roboto-italic.fntdata"/><Relationship Id="rId20" Type="http://schemas.openxmlformats.org/officeDocument/2006/relationships/customXml" Target="../customXml/item1.xml"/><Relationship Id="rId11" Type="http://schemas.openxmlformats.org/officeDocument/2006/relationships/slide" Target="slides/slide5.xml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15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9" Type="http://schemas.openxmlformats.org/officeDocument/2006/relationships/font" Target="fonts/FrankRuhlLibre-bold.fntdata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Roboto-regular.fntdata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54e1631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54e1631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54e163137_0_3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2d54e16313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4777218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4777218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54e16313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d54e1631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percentile performance amongst Ascension Hospitals by category.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54e16313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54e16313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</a:t>
            </a:r>
            <a:r>
              <a:rPr lang="en"/>
              <a:t> of change by hospital by category as compared to the hospitals 2022 results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54e16313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54e16313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47772185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47772185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1E69D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344068"/>
            <a:ext cx="8229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Frank Ruhl Libre"/>
              <a:buNone/>
              <a:defRPr b="1" i="0" sz="4000" u="none" cap="none" strike="noStrike">
                <a:solidFill>
                  <a:schemeClr val="l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Georgia"/>
              <a:buNone/>
              <a:defRPr sz="4000"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cxnSp>
        <p:nvCxnSpPr>
          <p:cNvPr id="52" name="Google Shape;52;p13"/>
          <p:cNvCxnSpPr/>
          <p:nvPr/>
        </p:nvCxnSpPr>
        <p:spPr>
          <a:xfrm>
            <a:off x="4114800" y="3016361"/>
            <a:ext cx="914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13"/>
          <p:cNvSpPr txBox="1"/>
          <p:nvPr/>
        </p:nvSpPr>
        <p:spPr>
          <a:xfrm>
            <a:off x="8386205" y="4628587"/>
            <a:ext cx="50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900" y="4615237"/>
            <a:ext cx="1201607" cy="2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1 Line">
  <p:cSld name="Title Only_1 Lin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342900" y="4486275"/>
            <a:ext cx="845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257175" y="670871"/>
            <a:ext cx="85440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 Ruhl Libre"/>
              <a:buNone/>
              <a:defRPr b="1" i="0" sz="2400" u="none" cap="none" strike="noStrik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/>
        </p:txBody>
      </p:sp>
      <p:cxnSp>
        <p:nvCxnSpPr>
          <p:cNvPr id="58" name="Google Shape;58;p14"/>
          <p:cNvCxnSpPr/>
          <p:nvPr/>
        </p:nvCxnSpPr>
        <p:spPr>
          <a:xfrm>
            <a:off x="342900" y="595839"/>
            <a:ext cx="342900" cy="0"/>
          </a:xfrm>
          <a:prstGeom prst="straightConnector1">
            <a:avLst/>
          </a:prstGeom>
          <a:noFill/>
          <a:ln cap="flat" cmpd="sng" w="76200">
            <a:solidFill>
              <a:srgbClr val="1E69D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257175" y="116425"/>
            <a:ext cx="85440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900" y="4615214"/>
            <a:ext cx="1201598" cy="2746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8386205" y="4628587"/>
            <a:ext cx="50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sz="1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_3 Lines">
  <p:cSld name="1_Title Only_3 Line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5"/>
          <p:cNvCxnSpPr/>
          <p:nvPr/>
        </p:nvCxnSpPr>
        <p:spPr>
          <a:xfrm>
            <a:off x="342900" y="4486275"/>
            <a:ext cx="845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5"/>
          <p:cNvSpPr txBox="1"/>
          <p:nvPr/>
        </p:nvSpPr>
        <p:spPr>
          <a:xfrm>
            <a:off x="8386205" y="4628587"/>
            <a:ext cx="50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sz="1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" name="Google Shape;65;p15"/>
          <p:cNvCxnSpPr/>
          <p:nvPr/>
        </p:nvCxnSpPr>
        <p:spPr>
          <a:xfrm>
            <a:off x="342900" y="595839"/>
            <a:ext cx="342900" cy="0"/>
          </a:xfrm>
          <a:prstGeom prst="straightConnector1">
            <a:avLst/>
          </a:prstGeom>
          <a:noFill/>
          <a:ln cap="flat" cmpd="sng" w="76200">
            <a:solidFill>
              <a:srgbClr val="1E69D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57175" y="107525"/>
            <a:ext cx="85440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257175" y="670871"/>
            <a:ext cx="85440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 Ruhl Libre"/>
              <a:buNone/>
              <a:defRPr b="1" i="0" sz="2000" u="none" cap="none" strike="noStrik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rank Ruhl Libre"/>
              <a:buNone/>
              <a:defRPr sz="2000"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/>
        </p:txBody>
      </p:sp>
      <p:pic>
        <p:nvPicPr>
          <p:cNvPr id="68" name="Google Shape;6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900" y="4615214"/>
            <a:ext cx="1201598" cy="27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_Opt 2_3 Lines">
  <p:cSld name="2_Title and Content_Opt 2_3 Line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6"/>
          <p:cNvCxnSpPr/>
          <p:nvPr/>
        </p:nvCxnSpPr>
        <p:spPr>
          <a:xfrm>
            <a:off x="342900" y="4486275"/>
            <a:ext cx="845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6"/>
          <p:cNvSpPr txBox="1"/>
          <p:nvPr>
            <p:ph type="title"/>
          </p:nvPr>
        </p:nvSpPr>
        <p:spPr>
          <a:xfrm>
            <a:off x="257175" y="670871"/>
            <a:ext cx="85440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 Ruhl Libre"/>
              <a:buNone/>
              <a:defRPr b="1" i="0" sz="2000" u="none" cap="none" strike="noStrik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Frank Ruhl Libre"/>
              <a:buNone/>
              <a:defRPr sz="2400"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/>
        </p:txBody>
      </p:sp>
      <p:cxnSp>
        <p:nvCxnSpPr>
          <p:cNvPr id="72" name="Google Shape;72;p16"/>
          <p:cNvCxnSpPr/>
          <p:nvPr/>
        </p:nvCxnSpPr>
        <p:spPr>
          <a:xfrm>
            <a:off x="342900" y="595839"/>
            <a:ext cx="342900" cy="0"/>
          </a:xfrm>
          <a:prstGeom prst="straightConnector1">
            <a:avLst/>
          </a:prstGeom>
          <a:noFill/>
          <a:ln cap="flat" cmpd="sng" w="76200">
            <a:solidFill>
              <a:srgbClr val="1E69D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57175" y="107525"/>
            <a:ext cx="85440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257175" y="2031520"/>
            <a:ext cx="8544000" cy="2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E69D2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E69D2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E69D2"/>
              </a:buClr>
              <a:buSzPts val="14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E69D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E69D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5" name="Google Shape;7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900" y="4615214"/>
            <a:ext cx="1201598" cy="27461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8386205" y="4628587"/>
            <a:ext cx="50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sz="1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 Blank slide - Logo/title">
  <p:cSld name="CUSTOM_5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38125" y="114300"/>
            <a:ext cx="8651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297"/>
              </a:buClr>
              <a:buSzPts val="2000"/>
              <a:buFont typeface="Frank Ruhl Libre"/>
              <a:buNone/>
              <a:defRPr b="1" i="0" sz="2000" u="none" cap="none" strike="noStrike">
                <a:solidFill>
                  <a:srgbClr val="1B4297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" y="4734158"/>
            <a:ext cx="1201598" cy="2746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7"/>
          <p:cNvCxnSpPr/>
          <p:nvPr/>
        </p:nvCxnSpPr>
        <p:spPr>
          <a:xfrm>
            <a:off x="342900" y="4605219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17"/>
          <p:cNvSpPr txBox="1"/>
          <p:nvPr/>
        </p:nvSpPr>
        <p:spPr>
          <a:xfrm>
            <a:off x="8354994" y="4823731"/>
            <a:ext cx="50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en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1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A blue text on a black background&#10;&#10;Description automatically generated"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8103" y="114300"/>
            <a:ext cx="949990" cy="20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457200" y="2344068"/>
            <a:ext cx="8229600" cy="45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38125" y="114300"/>
            <a:ext cx="8651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297"/>
              </a:buClr>
              <a:buSzPts val="2000"/>
              <a:buFont typeface="Frank Ruhl Libre"/>
              <a:buNone/>
            </a:pPr>
            <a:r>
              <a:rPr lang="en"/>
              <a:t>AHRQ Culture of Patient Safety: Hospital</a:t>
            </a:r>
            <a:endParaRPr/>
          </a:p>
        </p:txBody>
      </p:sp>
      <p:graphicFrame>
        <p:nvGraphicFramePr>
          <p:cNvPr id="93" name="Google Shape;93;p19"/>
          <p:cNvGraphicFramePr/>
          <p:nvPr/>
        </p:nvGraphicFramePr>
        <p:xfrm>
          <a:off x="4292275" y="825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{65BB2D8E-BD10-477C-908D-2FEB08475C8C}</a:tableStyleId>
              </a:tblPr>
              <a:tblGrid>
                <a:gridCol w="894850"/>
                <a:gridCol w="894850"/>
                <a:gridCol w="894850"/>
                <a:gridCol w="894850"/>
                <a:gridCol w="894850"/>
              </a:tblGrid>
              <a:tr h="1962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Response Options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196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Favorable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Neutral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Unfavorable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962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Agreement Response Scale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3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Strongly Agree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C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Agree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C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Neither Agree nor Disagree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AC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Disagree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1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Strongly Disagree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1823"/>
                    </a:solidFill>
                  </a:tcPr>
                </a:tc>
              </a:tr>
              <a:tr h="1962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Frequency Response Scale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1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Always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C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 of the Time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C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Sometimes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AC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Rarely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1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Never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1823"/>
                    </a:solidFill>
                  </a:tcPr>
                </a:tc>
              </a:tr>
              <a:tr h="1962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Rating Response Scale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1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Excellent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C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Good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C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AC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Fair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1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Poor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1823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19"/>
          <p:cNvSpPr txBox="1"/>
          <p:nvPr/>
        </p:nvSpPr>
        <p:spPr>
          <a:xfrm>
            <a:off x="187015" y="561823"/>
            <a:ext cx="42021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50" lIns="42850" spcFirstLastPara="1" rIns="42850" wrap="square" tIns="4285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Survey contains: </a:t>
            </a:r>
            <a:r>
              <a:rPr b="0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 core domain items</a:t>
            </a:r>
            <a:endParaRPr b="0" i="0" sz="12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Survey period: </a:t>
            </a:r>
            <a:r>
              <a:rPr b="0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September 3 - 30,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core domains of hospital safety culture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Supervisor, Manager, or Clinical Leader Support for Patient Safety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Communication Openness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Reporting Patient Safety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Organizational Learning – Continuous Improvement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Communication About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Hospital Management Support for Patient Safety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Response to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Handoffs and Information Exchange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Staffing and Work 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0813" lvl="0" marL="2143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additional measures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594" lvl="0" marL="1785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Overall Patient Safety Rating*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594" lvl="0" marL="1785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Events Reported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594" lvl="0" marL="1785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Likelihood to Seek Care at this Hospital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8594" lvl="0" marL="1785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Likelihood to Seek Care in this Unit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open-ended item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1678586" y="4731127"/>
            <a:ext cx="747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1" lang="en" sz="8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primary outcome measure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1" lang="en" sz="8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 negatively worded items (scores and benchmarks) are reversed-coded so that high favorability (teal) is always desired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246425" y="3011788"/>
            <a:ext cx="477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% Favorable = Green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% Unfavorable - Orange and Red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Higher Percentage is Always Better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Year over Year Significance Testing using 2 proportion Z tests.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257175" y="107525"/>
            <a:ext cx="8544000" cy="5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n"/>
              <a:t>Florida - Market Performance</a:t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257175" y="1063050"/>
            <a:ext cx="16245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Individual Items with Significant Improvement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Individual Items with Significant Decline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550" y="530100"/>
            <a:ext cx="6957524" cy="3776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257175" y="116425"/>
            <a:ext cx="8544000" cy="55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n"/>
              <a:t>Florida - Hospital percentile performance within Ascension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0" y="842200"/>
            <a:ext cx="1585700" cy="33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8750" y="842200"/>
            <a:ext cx="3332849" cy="331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600" y="842200"/>
            <a:ext cx="770194" cy="33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1800" y="842200"/>
            <a:ext cx="3409152" cy="331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2600" y="145776"/>
            <a:ext cx="3086100" cy="49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9600"/>
            <a:ext cx="1657353" cy="313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661" y="723597"/>
            <a:ext cx="2591301" cy="3111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 rotWithShape="1">
          <a:blip r:embed="rId5">
            <a:alphaModFix/>
          </a:blip>
          <a:srcRect b="6402" l="0" r="0" t="0"/>
          <a:stretch/>
        </p:blipFill>
        <p:spPr>
          <a:xfrm>
            <a:off x="5056512" y="737596"/>
            <a:ext cx="753560" cy="311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6">
            <a:alphaModFix/>
          </a:blip>
          <a:srcRect b="6068" l="0" r="0" t="0"/>
          <a:stretch/>
        </p:blipFill>
        <p:spPr>
          <a:xfrm>
            <a:off x="5810072" y="737596"/>
            <a:ext cx="3333929" cy="311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119675" y="43575"/>
            <a:ext cx="114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275375" y="89775"/>
            <a:ext cx="4624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Florida - Compared to 2022 results by Category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8978" y="723695"/>
            <a:ext cx="807287" cy="311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56500" y="33975"/>
            <a:ext cx="4062032" cy="5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257175" y="107525"/>
            <a:ext cx="8544000" cy="5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n"/>
              <a:t>Florida</a:t>
            </a:r>
            <a:endParaRPr/>
          </a:p>
        </p:txBody>
      </p:sp>
      <p:graphicFrame>
        <p:nvGraphicFramePr>
          <p:cNvPr id="131" name="Google Shape;131;p23"/>
          <p:cNvGraphicFramePr/>
          <p:nvPr/>
        </p:nvGraphicFramePr>
        <p:xfrm>
          <a:off x="118800" y="6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{D011FE19-C067-4E8F-AE51-BAEDA4052A77}</a:tableStyleId>
              </a:tblPr>
              <a:tblGrid>
                <a:gridCol w="5452825"/>
                <a:gridCol w="876075"/>
                <a:gridCol w="759475"/>
                <a:gridCol w="866175"/>
                <a:gridCol w="1004575"/>
              </a:tblGrid>
              <a:tr h="33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Top 5 Favorability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2022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Ascension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AHRQ Bench</a:t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50th %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 this unit we work together as an effective team.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88.3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88.5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86.9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During busy times, staff in this unit help each other.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88.4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88.2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My supervisor, manager, or clinical leader takes action to address patient safety concerns that are brought to their attention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81.7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84.8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 this unit, staff speak up if they see something that may negatively affect patient care.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When a mistake reaches the patient and could have harmed the patient, but did not, how often is this reported?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85.6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86.6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Bottom 5 Favorability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 this unit we have enough staff to handle the workload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52.6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40.2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45.1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Staff in this unit work longer hours than is best for patient care.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49.9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45.2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 work pace in this unit is so rushed that it negatively affects patient safety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55.5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50.7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51.5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60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Hospital management seems interested in patient safety only after an adverse event happens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35.6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34.4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When transferring patients from one unit to another, important information is often left out.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51.3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51.6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49.6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55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257175" y="107525"/>
            <a:ext cx="8544000" cy="5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n"/>
              <a:t>Florida Market - Patient Safety Rating as Perceived by “Level”</a:t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5" y="1385350"/>
            <a:ext cx="8839197" cy="200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858E3A9C-B647-46EE-AC6A-37B809BA873D}"/>
</file>

<file path=customXml/itemProps2.xml><?xml version="1.0" encoding="utf-8"?>
<ds:datastoreItem xmlns:ds="http://schemas.openxmlformats.org/officeDocument/2006/customXml" ds:itemID="{B929B97D-CF60-44CC-BBFE-C6592678524C}"/>
</file>

<file path=customXml/itemProps3.xml><?xml version="1.0" encoding="utf-8"?>
<ds:datastoreItem xmlns:ds="http://schemas.openxmlformats.org/officeDocument/2006/customXml" ds:itemID="{750FBA9E-65D4-47DC-B822-64573ED978C2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